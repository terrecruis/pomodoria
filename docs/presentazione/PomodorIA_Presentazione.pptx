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oglio_di_lavoro_di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2C5F2D"/>
                </a:solidFill>
                <a:latin typeface="Calibri"/>
              </a:defRPr>
            </a:pPr>
            <a:r>
              <a:rPr lang="it-IT" sz="1200" b="1" i="0" u="none" strike="noStrike">
                <a:solidFill>
                  <a:srgbClr val="2C5F2D"/>
                </a:solidFill>
                <a:latin typeface="Calibri"/>
              </a:rPr>
              <a:t>Accuratezza per variante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C5F2D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Pruned 30%</c:v>
                </c:pt>
                <c:pt idx="2">
                  <c:v>Pruned+Quant</c:v>
                </c:pt>
                <c:pt idx="3">
                  <c:v>ONNX Quant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82.2</c:v>
                </c:pt>
                <c:pt idx="2">
                  <c:v>82.2</c:v>
                </c:pt>
                <c:pt idx="3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38-D044-BD47-29AC803554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3E9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5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838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6E9B57">
              <a:alpha val="22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0332720" y="4206240"/>
            <a:ext cx="3108960" cy="3108960"/>
          </a:xfrm>
          <a:prstGeom prst="ellipse">
            <a:avLst/>
          </a:prstGeom>
          <a:solidFill>
            <a:srgbClr val="C0392B">
              <a:alpha val="2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777240" cy="777240"/>
          </a:xfrm>
          <a:prstGeom prst="ellipse">
            <a:avLst/>
          </a:prstGeom>
          <a:solidFill>
            <a:srgbClr val="6E9B57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5" name="Image 0" descr="/private/tmp/claude-501/-Users-gianmarcovellotti-Desktop-LM-1-anno-IoT-PomodorIA/d58fc5f1-3fb5-4f2f-a56b-ba8bb07e0c51/scratchpad/pptx/icons/leaf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9" y="114482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PomodorIA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548640" y="34290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7E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Serra Domotica con Edge AI — Riconoscimento Patologie Fogliari del Pomodoro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48640" y="5806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Vellotti Gianmarco  ·  Terrecuso Francesco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9C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for mobile, cloud and IoT — Università degli Studi di Napoli Federico II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"Raspberry Pi virtuale" in un solo processo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PomodorIA è un Proof of Concept software che riproduce, senza hardware reale, il ciclo tipico di un sistema IoT/Edge AI: osservare una pianta, diagnosticarla in locale e reagire in autonomia — tutto su un normale PC che simula un dispositivo Edge a risorse limitate.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1091672" cy="3794760"/>
          </a:xfrm>
          <a:prstGeom prst="roundRect">
            <a:avLst>
              <a:gd name="adj" fmla="val 2892"/>
            </a:avLst>
          </a:prstGeom>
          <a:solidFill>
            <a:srgbClr val="E7F0E1"/>
          </a:solidFill>
          <a:ln w="12700">
            <a:solidFill>
              <a:srgbClr val="D3E0C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E9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"RASPBERRY PI VIRTUALE" — PROCESSO PYTHON UNICO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340968" y="306324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1523848" y="326440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9" name="Image 0" descr="/private/tmp/claude-501/-Users-gianmarcovellotti-Desktop-LM-1-anno-IoT-PomodorIA/d58fc5f1-3fb5-4f2f-a56b-ba8bb07e0c51/scratchpad/pptx/icons/camer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712" y="331927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18208" y="3227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Layer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118208" y="35935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E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fotocamera + sensori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75608" y="34472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E9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678528" y="306324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4861408" y="326440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5" name="Image 1" descr="/private/tmp/claude-501/-Users-gianmarcovellotti-Desktop-LM-1-anno-IoT-PomodorIA/d58fc5f1-3fb5-4f2f-a56b-ba8bb07e0c51/scratchpad/pptx/icons/cpu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6272" y="3319272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55768" y="3227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Layer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455768" y="35935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E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compressa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513168" y="34472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E9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8016088" y="306324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6"/>
          <p:cNvSpPr/>
          <p:nvPr/>
        </p:nvSpPr>
        <p:spPr>
          <a:xfrm>
            <a:off x="8198968" y="326440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1" name="Image 2" descr="/private/tmp/claude-501/-Users-gianmarcovellotti-Desktop-LM-1-anno-IoT-PomodorIA/d58fc5f1-3fb5-4f2f-a56b-ba8bb07e0c51/scratchpad/pptx/icons/bel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832" y="3319272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793328" y="3227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Layer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793328" y="35935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7E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irrigazione, ventole...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867248" y="43251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9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3169768" y="4663440"/>
            <a:ext cx="5852160" cy="658368"/>
          </a:xfrm>
          <a:prstGeom prst="roundRect">
            <a:avLst>
              <a:gd name="adj" fmla="val 13889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1"/>
          <p:cNvSpPr/>
          <p:nvPr/>
        </p:nvSpPr>
        <p:spPr>
          <a:xfrm>
            <a:off x="3169768" y="466344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Decisionale — regole PEAS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5867248" y="53492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9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3809848" y="566928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4"/>
          <p:cNvSpPr/>
          <p:nvPr/>
        </p:nvSpPr>
        <p:spPr>
          <a:xfrm>
            <a:off x="3809848" y="5669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(CSV) / Dashboard real-time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IOT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Mappato sul modello IoT World Forum a 7 livelli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E7F0E1"/>
          </a:solidFill>
          <a:ln w="12700">
            <a:solidFill>
              <a:srgbClr val="E3E9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9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691640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Notifiche all'agricoltore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95144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3E9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85800" y="2295144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9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29514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295144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di monitoraggio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98648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E7F0E1"/>
          </a:solidFill>
          <a:ln w="12700">
            <a:solidFill>
              <a:srgbClr val="E3E9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85800" y="289864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9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89864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Abstraction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898648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Strutture dati unificate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502152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3E9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85800" y="3502152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9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50215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Accumulation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502152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CSV strutturati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105656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685800" y="4105656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10565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4105656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Inferenza CNN su CPU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3E9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685800" y="470916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9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25880" y="47091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4709160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Comunicazione in-memory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312664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E7F0E1"/>
          </a:solidFill>
          <a:ln w="12700">
            <a:solidFill>
              <a:srgbClr val="E3E9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685800" y="5312664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E9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25880" y="531266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Devices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54880" y="5312664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Sensori e attuatori mock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60076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evidenza: il Livello 3 (Edge Computing) — cuore del progetto, dove l'inferenza avviene localmente e non nel cloud.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ciclo Sense → Think → Act → Log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2600" y="2286000"/>
            <a:ext cx="2514600" cy="3337560"/>
          </a:xfrm>
          <a:prstGeom prst="roundRect">
            <a:avLst>
              <a:gd name="adj" fmla="val 4364"/>
            </a:avLst>
          </a:prstGeom>
          <a:solidFill>
            <a:srgbClr val="2451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574140" y="2651760"/>
            <a:ext cx="731520" cy="7315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/private/tmp/claude-501/-Users-gianmarcovellotti-Desktop-LM-1-anno-IoT-PomodorIA/d58fc5f1-3fb5-4f2f-a56b-ba8bb07e0c51/scratchpad/pptx/icons/camer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922" y="2739542"/>
            <a:ext cx="555955" cy="5559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9760" y="3611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83768" y="4023360"/>
            <a:ext cx="2112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fotocamera virtuale e i sensori ambientali raccolgono un nuovo stato della serra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197200" y="37033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F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453232" y="2286000"/>
            <a:ext cx="2514600" cy="3337560"/>
          </a:xfrm>
          <a:prstGeom prst="roundRect">
            <a:avLst>
              <a:gd name="adj" fmla="val 4364"/>
            </a:avLst>
          </a:prstGeom>
          <a:solidFill>
            <a:srgbClr val="2451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4344772" y="2651760"/>
            <a:ext cx="731520" cy="7315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1" descr="/private/tmp/claude-501/-Users-gianmarcovellotti-Desktop-LM-1-anno-IoT-PomodorIA/d58fc5f1-3fb5-4f2f-a56b-ba8bb07e0c51/scratchpad/pptx/icons/b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554" y="2739542"/>
            <a:ext cx="555955" cy="55595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0392" y="3611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654400" y="4023360"/>
            <a:ext cx="2112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CNN classifica la foglia, l'agente decide combinando diagnosi + ambiente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967832" y="37033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F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23864" y="2286000"/>
            <a:ext cx="2514600" cy="3337560"/>
          </a:xfrm>
          <a:prstGeom prst="roundRect">
            <a:avLst>
              <a:gd name="adj" fmla="val 4364"/>
            </a:avLst>
          </a:prstGeom>
          <a:solidFill>
            <a:srgbClr val="2451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7115404" y="2651760"/>
            <a:ext cx="731520" cy="7315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8" name="Image 2" descr="/private/tmp/claude-501/-Users-gianmarcovellotti-Desktop-LM-1-anno-IoT-PomodorIA/d58fc5f1-3fb5-4f2f-a56b-ba8bb07e0c51/scratchpad/pptx/icons/bel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3186" y="2739542"/>
            <a:ext cx="555955" cy="55595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61024" y="3611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425032" y="4023360"/>
            <a:ext cx="2112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attuatori simulati (irrigazione, ventole, allarme) eseguono la decisione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738464" y="37033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F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8994496" y="2286000"/>
            <a:ext cx="2514600" cy="3337560"/>
          </a:xfrm>
          <a:prstGeom prst="roundRect">
            <a:avLst>
              <a:gd name="adj" fmla="val 4364"/>
            </a:avLst>
          </a:prstGeom>
          <a:solidFill>
            <a:srgbClr val="2451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9886036" y="2651760"/>
            <a:ext cx="731520" cy="7315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4" name="Image 3" descr="/private/tmp/claude-501/-Users-gianmarcovellotti-Desktop-LM-1-anno-IoT-PomodorIA/d58fc5f1-3fb5-4f2f-a56b-ba8bb07e0c51/scratchpad/pptx/icons/lay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3818" y="2739542"/>
            <a:ext cx="555955" cy="55595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31656" y="3611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9195664" y="4023360"/>
            <a:ext cx="2112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ciclo viene registrato su CSV e mostrato nella dashboard live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4864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B9C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eseguito a intervalli regolari, in loop continuo — proprio come un dispositivo Edge reale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1-2 — SENSORI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"osserva" la serra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E7F0E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6" name="Image 0" descr="/private/tmp/claude-501/-Users-gianmarcovellotti-Desktop-LM-1-anno-IoT-PomodorIA/d58fc5f1-3fb5-4f2f-a56b-ba8bb07e0c51/scratchpad/pptx/icons/camer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" y="212872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03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Fotocamera virtuale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ogni ciclo pesca un'immagine reale dal dataset PlantVillage-Tomato (10 classi, incluso "sana").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solo lo split di test, mai visto in addestramento: la CNN diagnostica come farebbe su una pianta nuova.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Può essere "forzata" su una classe per simulare demo mirate, es. un focolaio di una malattia.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E7F0E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667512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Sensori ambientali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675120" y="2560320"/>
            <a:ext cx="457200" cy="457200"/>
          </a:xfrm>
          <a:prstGeom prst="ellipse">
            <a:avLst/>
          </a:prstGeom>
          <a:solidFill>
            <a:srgbClr val="6E9B57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1" descr="/private/tmp/claude-501/-Users-gianmarcovellotti-Desktop-LM-1-anno-IoT-PomodorIA/d58fc5f1-3fb5-4f2f-a56b-ba8bb07e0c51/scratchpad/pptx/icons/ther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261518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5080" y="3035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863840" y="2560320"/>
            <a:ext cx="457200" cy="457200"/>
          </a:xfrm>
          <a:prstGeom prst="ellipse">
            <a:avLst/>
          </a:prstGeom>
          <a:solidFill>
            <a:srgbClr val="6E9B57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5" name="Image 2" descr="/private/tmp/claude-501/-Users-gianmarcovellotti-Desktop-LM-1-anno-IoT-PomodorIA/d58fc5f1-3fb5-4f2f-a56b-ba8bb07e0c51/scratchpad/pptx/icons/tin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704" y="261518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43800" y="3035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Umidità aria &amp; suolo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9052560" y="2560320"/>
            <a:ext cx="457200" cy="457200"/>
          </a:xfrm>
          <a:prstGeom prst="ellipse">
            <a:avLst/>
          </a:prstGeom>
          <a:solidFill>
            <a:srgbClr val="6E9B57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8" name="Image 3" descr="/private/tmp/claude-501/-Users-gianmarcovellotti-Desktop-LM-1-anno-IoT-PomodorIA/d58fc5f1-3fb5-4f2f-a56b-ba8bb07e0c51/scratchpad/pptx/icons/su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2615184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32520" y="3035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Luminosità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10241280" y="2560320"/>
            <a:ext cx="457200" cy="457200"/>
          </a:xfrm>
          <a:prstGeom prst="ellipse">
            <a:avLst/>
          </a:prstGeom>
          <a:solidFill>
            <a:srgbClr val="6E9B57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1" name="Image 4" descr="/private/tmp/claude-501/-Users-gianmarcovellotti-Desktop-LM-1-anno-IoT-PomodorIA/d58fc5f1-3fb5-4f2f-a56b-ba8bb07e0c51/scratchpad/pptx/icons/win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6144" y="2615184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921240" y="3035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Ventilazione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6675120" y="3794760"/>
            <a:ext cx="4617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7"/>
          <p:cNvSpPr/>
          <p:nvPr/>
        </p:nvSpPr>
        <p:spPr>
          <a:xfrm>
            <a:off x="6903720" y="3950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Fusion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6903720" y="429768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valori ambientali non sono casuali: sono correlati euristicamente alla patologia rilevata (es. umidità alta ↔ malattie fungine). Immagine + ambiente vengono fusi in un'unica lettura per la decisione.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3 — EDGE AI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Dentro il motore di inferenza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65376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68680" y="18105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TomatoCNN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2112264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blocchi Conv2D + ReLU + MaxPool, filtri che raddoppiano ad ogni blocco (64→128→256) · 8,76M parametri totali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89504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identico al training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13639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a 64×64 RGB e normalizzazione ImageNet — obbligatorio, altrimenti la rete non funziona in inferenza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913632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868680" y="3858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modalità intercambiabili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full_precision (baseline .pth) oppure optimized, con variante selezionabile: ONNX, pruned+quantizzato o pruned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868680" y="48828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Vincoli Edge simulati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518464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solo thread CPU, nessuna GPU — ogni predizione misura tempo di inferenza (ms) e RAM utilizzata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691640"/>
            <a:ext cx="4736592" cy="4343400"/>
          </a:xfrm>
          <a:prstGeom prst="roundRect">
            <a:avLst>
              <a:gd name="adj" fmla="val 2526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8951976" y="196596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8" name="Image 0" descr="/private/tmp/claude-501/-Users-gianmarcovellotti-Desktop-LM-1-anno-IoT-PomodorIA/d58fc5f1-3fb5-4f2f-a56b-ba8bb07e0c51/scratchpad/pptx/icons/cpu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786" y="2042770"/>
            <a:ext cx="486461" cy="48646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178040" y="2697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AI Engine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7178040" y="3200400"/>
            <a:ext cx="4187952" cy="402336"/>
          </a:xfrm>
          <a:prstGeom prst="roundRect">
            <a:avLst>
              <a:gd name="adj" fmla="val 50000"/>
            </a:avLst>
          </a:prstGeom>
          <a:solidFill>
            <a:srgbClr val="2451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7178040" y="3200400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Immagine 64×64×3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178040" y="3602736"/>
            <a:ext cx="4187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178040" y="3785616"/>
            <a:ext cx="4187952" cy="402336"/>
          </a:xfrm>
          <a:prstGeom prst="roundRect">
            <a:avLst>
              <a:gd name="adj" fmla="val 50000"/>
            </a:avLst>
          </a:prstGeom>
          <a:solidFill>
            <a:srgbClr val="2451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/>
          <p:nvPr/>
        </p:nvSpPr>
        <p:spPr>
          <a:xfrm>
            <a:off x="7178040" y="3785616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+ ReLU + Pool ×3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178040" y="4187952"/>
            <a:ext cx="4187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178040" y="4370832"/>
            <a:ext cx="4187952" cy="402336"/>
          </a:xfrm>
          <a:prstGeom prst="roundRect">
            <a:avLst>
              <a:gd name="adj" fmla="val 50000"/>
            </a:avLst>
          </a:prstGeom>
          <a:solidFill>
            <a:srgbClr val="2451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7178040" y="4370832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+ FC 512 (dropout)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178040" y="4773168"/>
            <a:ext cx="4187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178040" y="4956048"/>
            <a:ext cx="4187952" cy="402336"/>
          </a:xfrm>
          <a:prstGeom prst="roundRect">
            <a:avLst>
              <a:gd name="adj" fmla="val 50000"/>
            </a:avLst>
          </a:prstGeom>
          <a:solidFill>
            <a:srgbClr val="2451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7"/>
          <p:cNvSpPr/>
          <p:nvPr/>
        </p:nvSpPr>
        <p:spPr>
          <a:xfrm>
            <a:off x="7178040" y="4956048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 10 classi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178040" y="5358384"/>
            <a:ext cx="4187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178040" y="5541264"/>
            <a:ext cx="4187952" cy="402336"/>
          </a:xfrm>
          <a:prstGeom prst="roundRect">
            <a:avLst>
              <a:gd name="adj" fmla="val 50000"/>
            </a:avLst>
          </a:prstGeom>
          <a:solidFill>
            <a:srgbClr val="2451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30"/>
          <p:cNvSpPr/>
          <p:nvPr/>
        </p:nvSpPr>
        <p:spPr>
          <a:xfrm>
            <a:off x="7178040" y="5541264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+ confidenza + latenza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5-6 — INTELLIGENZA APPLICATIVA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agente razionale, reattivo e basato su obiettivi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2606040" cy="566928"/>
          </a:xfrm>
          <a:prstGeom prst="roundRect">
            <a:avLst>
              <a:gd name="adj" fmla="val 14516"/>
            </a:avLst>
          </a:prstGeom>
          <a:solidFill>
            <a:srgbClr val="E7F0E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67512" y="1728216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67512" y="1728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276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5848" y="1627632"/>
            <a:ext cx="2606040" cy="566928"/>
          </a:xfrm>
          <a:prstGeom prst="roundRect">
            <a:avLst>
              <a:gd name="adj" fmla="val 14516"/>
            </a:avLst>
          </a:prstGeom>
          <a:solidFill>
            <a:srgbClr val="E7F0E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3474720" y="1728216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474720" y="1728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22776" y="16276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63056" y="1627632"/>
            <a:ext cx="2606040" cy="566928"/>
          </a:xfrm>
          <a:prstGeom prst="roundRect">
            <a:avLst>
              <a:gd name="adj" fmla="val 14516"/>
            </a:avLst>
          </a:prstGeom>
          <a:solidFill>
            <a:srgbClr val="E7F0E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6281928" y="1728216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281928" y="1728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29984" y="16276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70264" y="1627632"/>
            <a:ext cx="2606040" cy="566928"/>
          </a:xfrm>
          <a:prstGeom prst="roundRect">
            <a:avLst>
              <a:gd name="adj" fmla="val 14516"/>
            </a:avLst>
          </a:prstGeom>
          <a:solidFill>
            <a:srgbClr val="E7F0E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9089136" y="1728216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9089136" y="1728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537192" y="16276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395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Regole condizione → azione, a priorità decrescente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2807208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48640" y="2807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32688" y="2761488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Confidenza bassa → ispezione umana (human-in-the-loop)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80760" y="2807208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6080760" y="2807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64808" y="2761488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Malattia virale → allarme critico (possibile vettore insetto)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282696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548640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32688" y="32369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Malattia fungina + umidità alta → ventilazione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80760" y="3282696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6080760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64808" y="32369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Malattia batterica/parassita → notifica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3758184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548640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32688" y="3712464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bassa → irrigazione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80760" y="3758184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6080760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64808" y="3712464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fuori soglia → ventilazione o alert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233672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548640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32688" y="4187952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di malattia ricorrente → allarme epidemia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080760" y="4233672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6080760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464808" y="4187952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Pianta sana → reset di tutti gli attuatori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4956048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822960" y="5102352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9F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Rilevamento epidemie:  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finestra scorrevole delle ultime 10 scansioni — allarme se una stessa categoria di malattia compare almeno 3 volte. Robusto a errori isolati del modello e al campionamento casuale delle piante ad ogni ciclo.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7 — COLLABORATION &amp; PROCESSES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Dalla decisione automatica alla persona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Livello 7 dello stack IoTWF non aziona hardware: porta la decisione del sistema fino all'agricoltore, chiudendo il ciclo automazione↔persona quando serve un giudizio umano.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E7F0E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68680" y="2788920"/>
            <a:ext cx="594360" cy="5943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/private/tmp/claude-501/-Users-gianmarcovellotti-Desktop-LM-1-anno-IoT-PomodorIA/d58fc5f1-3fb5-4f2f-a56b-ba8bb07e0c51/scratchpad/pptx/icons/wifi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" y="2860243"/>
            <a:ext cx="451714" cy="4517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834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NotificationActuator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35661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ha pin GPIO: è un'azione puramente software che simula l'invio di una notifica push/SMS/email all'agricoltore.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448056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6E9B5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468880" y="448056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D68A1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2468880" y="4480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069080" y="448056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4069080" y="4480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68680" y="5120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livelli di severità: dalla semplice informazione (pianta tornata sana) all'urgenza massima (epidemia, malattia virale).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080760" y="2514600"/>
            <a:ext cx="5559552" cy="3566160"/>
          </a:xfrm>
          <a:prstGeom prst="roundRect">
            <a:avLst>
              <a:gd name="adj" fmla="val 3077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6400800" y="278892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9" name="Image 1" descr="/private/tmp/claude-501/-Users-gianmarcovellotti-Desktop-LM-1-anno-IoT-PomodorIA/d58fc5f1-3fb5-4f2f-a56b-ba8bb07e0c51/scratchpad/pptx/icons/bel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123" y="2860243"/>
            <a:ext cx="451714" cy="45171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32320" y="28346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 human-in-the-loop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400800" y="352044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24512A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18"/>
          <p:cNvSpPr/>
          <p:nvPr/>
        </p:nvSpPr>
        <p:spPr>
          <a:xfrm>
            <a:off x="6583680" y="35204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Confidenza modello bassa  </a:t>
            </a: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richiesta ispezione umana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400800" y="44805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7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la CNN non è sicura della diagnosi, il sistema non decide da solo: attiva l'allarme e notifica l'agricoltore, chiedendo una verifica diretta sulla pianta prima di agire.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differenza degli attuatori fisici (Livello 1), che chiudono il ciclo in autonomia, il Livello 7 lascia la decisione finale a una persona quando l'incertezza è alta.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OTTIMIZZAZIONE EDGE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Pruning e quantizzazione: il trade-off dimensione/accuratezza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E7F0E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Pruning (L1, 30%)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9808" y="2057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ln_structured rimuove interi filtri Conv2D meno rilevanti (norma L1) — riduce davvero i calcoli, non solo azzera pesi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6199632" y="1691640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E7F0E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40080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Quantization (INT8)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0" y="2057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30" dirty="0" err="1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03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30" dirty="0" err="1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pesi</a:t>
            </a:r>
            <a:r>
              <a:rPr lang="en-US" sz="103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30" dirty="0" err="1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vengono</a:t>
            </a:r>
            <a:r>
              <a:rPr lang="en-US" sz="103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30" dirty="0" err="1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convertiti</a:t>
            </a:r>
            <a:r>
              <a:rPr lang="en-US" sz="103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8 bit a compile-time; le </a:t>
            </a:r>
            <a:r>
              <a:rPr lang="en-US" sz="1030" dirty="0" err="1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attivazioni</a:t>
            </a:r>
            <a:r>
              <a:rPr lang="en-US" sz="103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30" dirty="0" err="1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</a:t>
            </a:r>
            <a:r>
              <a:rPr lang="en-US" sz="103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30" dirty="0" err="1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quantizzate</a:t>
            </a:r>
            <a:r>
              <a:rPr lang="en-US" sz="103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runtime, senza </a:t>
            </a:r>
            <a:r>
              <a:rPr lang="en-US" sz="1030" dirty="0" err="1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calibrazione</a:t>
            </a:r>
            <a:endParaRPr lang="en-US" sz="103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548640" y="2788920"/>
          <a:ext cx="553212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2788920"/>
          <a:ext cx="5468112" cy="18745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Variante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Acc.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Lat.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1F"/>
                          </a:solidFill>
                        </a:rPr>
                        <a:t>Baseline (float32)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A1F"/>
                          </a:solidFill>
                        </a:rPr>
                        <a:t>95.0%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A1F"/>
                          </a:solidFill>
                        </a:rPr>
                        <a:t>33.44 MB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A1F"/>
                          </a:solidFill>
                        </a:rPr>
                        <a:t>3.33 ms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1F"/>
                          </a:solidFill>
                        </a:rPr>
                        <a:t>Pruned (30%)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A1F"/>
                          </a:solidFill>
                        </a:rPr>
                        <a:t>82.2%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A1F"/>
                          </a:solidFill>
                        </a:rPr>
                        <a:t>33.44 MB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A1F"/>
                          </a:solidFill>
                        </a:rPr>
                        <a:t>3.28 ms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1F"/>
                          </a:solidFill>
                        </a:rPr>
                        <a:t>Pruned + Quant INT8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A1F"/>
                          </a:solidFill>
                        </a:rPr>
                        <a:t>82.2%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A1F"/>
                          </a:solidFill>
                        </a:rPr>
                        <a:t>9.43 MB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A1F"/>
                          </a:solidFill>
                        </a:rPr>
                        <a:t>4.32 ms</a:t>
                      </a:r>
                      <a:endParaRPr lang="en-US" sz="100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</a:rPr>
                        <a:t>ONNX Quant INT8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</a:rPr>
                        <a:t>95.0%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</a:rPr>
                        <a:t>8.37 MB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</a:rPr>
                        <a:t>6.10 ms</a:t>
                      </a:r>
                      <a:endParaRPr lang="en-US" sz="1050" dirty="0"/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989320" y="4828032"/>
            <a:ext cx="5468112" cy="1024128"/>
          </a:xfrm>
          <a:prstGeom prst="roundRect">
            <a:avLst>
              <a:gd name="adj" fmla="val 7143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/>
          <p:nvPr/>
        </p:nvSpPr>
        <p:spPr>
          <a:xfrm>
            <a:off x="6172200" y="49377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E7F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quantizzazione ONNX resta la scelta più equilibrata: ~4x più leggera (33.4 → 8.4 MB) senza perdere accuratezza. Il pruning aggressivo, senza fine-tuning di recupero, penalizza sensibilmente il modello.</a:t>
            </a:r>
            <a:endParaRPr lang="en-US" sz="1030" dirty="0"/>
          </a:p>
        </p:txBody>
      </p:sp>
      <p:sp>
        <p:nvSpPr>
          <p:cNvPr id="14" name="Text 10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74520" y="4114800"/>
            <a:ext cx="5486400" cy="5486400"/>
          </a:xfrm>
          <a:prstGeom prst="ellipse">
            <a:avLst/>
          </a:prstGeom>
          <a:solidFill>
            <a:srgbClr val="6E9B57">
              <a:alpha val="2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/private/tmp/claude-501/-Users-gianmarcovellotti-Desktop-LM-1-anno-IoT-PomodorIA/d58fc5f1-3fb5-4f2f-a56b-ba8bb07e0c51/scratchpad/pptx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762610"/>
            <a:ext cx="486461" cy="4864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417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Conclusioni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D7E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PomodorIA dimostra, in un ambiente interamente software, l'intero ciclo di vita di un sistema IoT/Edge AI applicato all'agricoltura di precisione.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3300984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841248" y="31729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mappata fedelmente sui 7 livelli IoT World Forum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803904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841248" y="36758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razionale PEAS che fonde diagnosi CNN e contesto ambientale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306824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841248" y="41788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compresso per esecuzione realistica su hardware Edge limitato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809744"/>
            <a:ext cx="128016" cy="12801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841248" y="46817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"drop-in replaceable": pronto per un deployment su Raspberry Pi reale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595360" y="2194560"/>
            <a:ext cx="3017520" cy="3931920"/>
          </a:xfrm>
          <a:prstGeom prst="roundRect">
            <a:avLst>
              <a:gd name="adj" fmla="val 3636"/>
            </a:avLst>
          </a:prstGeom>
          <a:solidFill>
            <a:srgbClr val="24512A"/>
          </a:solidFill>
          <a:ln/>
        </p:spPr>
        <p:txBody>
          <a:bodyPr/>
          <a:lstStyle/>
          <a:p>
            <a:endParaRPr lang="it-IT" dirty="0"/>
          </a:p>
        </p:txBody>
      </p:sp>
      <p:sp>
        <p:nvSpPr>
          <p:cNvPr id="16" name="Text 13"/>
          <p:cNvSpPr/>
          <p:nvPr/>
        </p:nvSpPr>
        <p:spPr>
          <a:xfrm>
            <a:off x="8595360" y="2606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9FC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4600" dirty="0"/>
          </a:p>
        </p:txBody>
      </p:sp>
      <p:sp>
        <p:nvSpPr>
          <p:cNvPr id="17" name="Text 14"/>
          <p:cNvSpPr/>
          <p:nvPr/>
        </p:nvSpPr>
        <p:spPr>
          <a:xfrm>
            <a:off x="8732520" y="3520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accuratezza mantenuta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 modello compresso per l'Edge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915400" y="4526280"/>
            <a:ext cx="2286000" cy="0"/>
          </a:xfrm>
          <a:prstGeom prst="line">
            <a:avLst/>
          </a:prstGeom>
          <a:noFill/>
          <a:ln w="12700">
            <a:solidFill>
              <a:srgbClr val="3E6B3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8595360" y="4709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FC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4x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8732520" y="5349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leggero da 33 MB a 8 MB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Grazie per l'attenzione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1122</Words>
  <Application>Microsoft Macintosh PowerPoint</Application>
  <PresentationFormat>Widescreen</PresentationFormat>
  <Paragraphs>192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PomodorIA — Serra Domotica con Edge AI</dc:title>
  <dc:subject>PptxGenJS Presentation</dc:subject>
  <dc:creator>Vellotti Gianmarco, Terrecuso Francesco</dc:creator>
  <cp:lastModifiedBy>GIANMARCO VELLOTTI</cp:lastModifiedBy>
  <cp:revision>2</cp:revision>
  <dcterms:created xsi:type="dcterms:W3CDTF">2026-07-14T16:48:46Z</dcterms:created>
  <dcterms:modified xsi:type="dcterms:W3CDTF">2026-07-14T21:38:23Z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2026-07-14T21:38:23Z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3837ca46-48c8-4cdd-b954-faf3b0cd59c3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50, 3, 0, 1</vt:lpwstr>
  </property>
</Properties>
</file>