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2C5F2D"/>
                </a:solidFill>
                <a:latin typeface="Calibri"/>
              </a:defRPr>
            </a:pPr>
            <a:r>
              <a:rPr sz="1200" b="1" i="0" u="none" strike="noStrike">
                <a:solidFill>
                  <a:srgbClr val="2C5F2D"/>
                </a:solidFill>
                <a:latin typeface="Calibri"/>
              </a:rPr>
              <a:t>Accuratezza per variante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C5F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Pruned 30%</c:v>
                  </c:pt>
                  <c:pt idx="2">
                    <c:v>Pruned+Quant</c:v>
                  </c:pt>
                  <c:pt idx="3">
                    <c:v>ONNX Quant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</c:v>
                </c:pt>
                <c:pt idx="1">
                  <c:v>82.2</c:v>
                </c:pt>
                <c:pt idx="2">
                  <c:v>82.2</c:v>
                </c:pt>
                <c:pt idx="3">
                  <c:v>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2C5F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3E9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5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5029200" cy="5029200"/>
          </a:xfrm>
          <a:prstGeom prst="ellipse">
            <a:avLst/>
          </a:prstGeom>
          <a:solidFill>
            <a:srgbClr val="6E9B57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C0392B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51560"/>
            <a:ext cx="777240" cy="777240"/>
          </a:xfrm>
          <a:prstGeom prst="ellipse">
            <a:avLst/>
          </a:prstGeom>
          <a:solidFill>
            <a:srgbClr val="6E9B57"/>
          </a:solidFill>
          <a:ln/>
        </p:spPr>
      </p:sp>
      <p:pic>
        <p:nvPicPr>
          <p:cNvPr id="5" name="Image 0" descr="/private/tmp/claude-501/-Users-gianmarcovellotti-Desktop-LM-1-anno-IoT-PomodorIA/d58fc5f1-3fb5-4f2f-a56b-ba8bb07e0c51/scratchpad/pptx/icons/leaf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909" y="1144829"/>
            <a:ext cx="590702" cy="5907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3317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PomodorIA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548640" y="342900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Serra Domotica con Edge AI — Riconoscimento Patologie Fogliari del Pomodoro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Vellotti Gianmarco  ·  Terrecuso Francesco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B9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Systems for mobile, cloud and IoT — Università degli Studi di Napoli Federico II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"Raspberry Pi virtuale" in un solo processo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PomodorIA è un Proof of Concept software che riproduce, senza hardware reale, il ciclo tipico di un sistema IoT/Edge AI: osservare una pianta, diagnosticarla in locale e reagire in autonomia — tutto su un normale PC che simula un dispositivo Edge a risorse limitate.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11091672" cy="3794760"/>
          </a:xfrm>
          <a:prstGeom prst="roundRect">
            <a:avLst>
              <a:gd name="adj" fmla="val 2892"/>
            </a:avLst>
          </a:prstGeom>
          <a:solidFill>
            <a:srgbClr val="E7F0E1"/>
          </a:solidFill>
          <a:ln w="12700">
            <a:solidFill>
              <a:srgbClr val="D3E0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E9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"RASPBERRY PI VIRTUALE" — PROCESSO PYTHON UNICO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340968" y="3063240"/>
            <a:ext cx="2834640" cy="1234440"/>
          </a:xfrm>
          <a:prstGeom prst="roundRect">
            <a:avLst>
              <a:gd name="adj" fmla="val 7407"/>
            </a:avLst>
          </a:prstGeom>
          <a:solidFill>
            <a:srgbClr val="2C5F2D"/>
          </a:solidFill>
          <a:ln/>
        </p:spPr>
      </p:sp>
      <p:sp>
        <p:nvSpPr>
          <p:cNvPr id="8" name="Shape 6"/>
          <p:cNvSpPr/>
          <p:nvPr/>
        </p:nvSpPr>
        <p:spPr>
          <a:xfrm>
            <a:off x="1523848" y="3264408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9" name="Image 0" descr="/private/tmp/claude-501/-Users-gianmarcovellotti-Desktop-LM-1-anno-IoT-PomodorIA/d58fc5f1-3fb5-4f2f-a56b-ba8bb07e0c51/scratchpad/pptx/icons/camer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8712" y="331927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118208" y="3227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Layer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118208" y="35935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fotocamera + sensori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175608" y="34472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9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678528" y="3063240"/>
            <a:ext cx="2834640" cy="1234440"/>
          </a:xfrm>
          <a:prstGeom prst="roundRect">
            <a:avLst>
              <a:gd name="adj" fmla="val 7407"/>
            </a:avLst>
          </a:prstGeom>
          <a:solidFill>
            <a:srgbClr val="2C5F2D"/>
          </a:solidFill>
          <a:ln/>
        </p:spPr>
      </p:sp>
      <p:sp>
        <p:nvSpPr>
          <p:cNvPr id="14" name="Shape 11"/>
          <p:cNvSpPr/>
          <p:nvPr/>
        </p:nvSpPr>
        <p:spPr>
          <a:xfrm>
            <a:off x="4861408" y="3264408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5" name="Image 1" descr="/private/tmp/claude-501/-Users-gianmarcovellotti-Desktop-LM-1-anno-IoT-PomodorIA/d58fc5f1-3fb5-4f2f-a56b-ba8bb07e0c51/scratchpad/pptx/icons/cpu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272" y="3319272"/>
            <a:ext cx="347472" cy="3474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55768" y="3227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Layer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455768" y="35935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compressa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513168" y="34472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9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8016088" y="3063240"/>
            <a:ext cx="2834640" cy="1234440"/>
          </a:xfrm>
          <a:prstGeom prst="roundRect">
            <a:avLst>
              <a:gd name="adj" fmla="val 7407"/>
            </a:avLst>
          </a:prstGeom>
          <a:solidFill>
            <a:srgbClr val="2C5F2D"/>
          </a:solidFill>
          <a:ln/>
        </p:spPr>
      </p:sp>
      <p:sp>
        <p:nvSpPr>
          <p:cNvPr id="20" name="Shape 16"/>
          <p:cNvSpPr/>
          <p:nvPr/>
        </p:nvSpPr>
        <p:spPr>
          <a:xfrm>
            <a:off x="8198968" y="3264408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1" name="Image 2" descr="/private/tmp/claude-501/-Users-gianmarcovellotti-Desktop-LM-1-anno-IoT-PomodorIA/d58fc5f1-3fb5-4f2f-a56b-ba8bb07e0c51/scratchpad/pptx/icons/bell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3832" y="3319272"/>
            <a:ext cx="347472" cy="34747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793328" y="3227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Layer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8793328" y="35935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irrigazione, ventole...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5867248" y="43251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9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3169768" y="4663440"/>
            <a:ext cx="5852160" cy="658368"/>
          </a:xfrm>
          <a:prstGeom prst="roundRect">
            <a:avLst>
              <a:gd name="adj" fmla="val 13889"/>
            </a:avLst>
          </a:prstGeom>
          <a:solidFill>
            <a:srgbClr val="C0392B"/>
          </a:solidFill>
          <a:ln/>
        </p:spPr>
      </p:sp>
      <p:sp>
        <p:nvSpPr>
          <p:cNvPr id="26" name="Text 21"/>
          <p:cNvSpPr/>
          <p:nvPr/>
        </p:nvSpPr>
        <p:spPr>
          <a:xfrm>
            <a:off x="3169768" y="46634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Decisionale — regole PEAS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5867248" y="53492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9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3809848" y="5669280"/>
            <a:ext cx="45720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3809848" y="56692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(CSV) / Dashboard real-time</a:t>
            </a:r>
            <a:endParaRPr lang="en-US" sz="1250" dirty="0"/>
          </a:p>
        </p:txBody>
      </p:sp>
      <p:sp>
        <p:nvSpPr>
          <p:cNvPr id="30" name="Text 25"/>
          <p:cNvSpPr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IOT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Mappato sul modello IoT World Forum a 7 livelli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0881360" cy="512064"/>
          </a:xfrm>
          <a:prstGeom prst="roundRect">
            <a:avLst>
              <a:gd name="adj" fmla="val 10714"/>
            </a:avLst>
          </a:prstGeom>
          <a:solidFill>
            <a:srgbClr val="E7F0E1"/>
          </a:solidFill>
          <a:ln w="12700">
            <a:solidFill>
              <a:srgbClr val="E3E9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916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9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69164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0" y="1691640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Notifiche all'agricoltore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295144"/>
            <a:ext cx="1088136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95144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9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229514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2295144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di monitoraggio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10881360" cy="512064"/>
          </a:xfrm>
          <a:prstGeom prst="roundRect">
            <a:avLst>
              <a:gd name="adj" fmla="val 10714"/>
            </a:avLst>
          </a:prstGeom>
          <a:solidFill>
            <a:srgbClr val="E7F0E1"/>
          </a:solidFill>
          <a:ln w="12700">
            <a:solidFill>
              <a:srgbClr val="E3E9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9864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9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25880" y="289864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Abstraction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54880" y="289864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Strutture dati unificate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502152"/>
            <a:ext cx="1088136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502152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9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35021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Accumulation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3502152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CSV strutturati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105656"/>
            <a:ext cx="10881360" cy="512064"/>
          </a:xfrm>
          <a:prstGeom prst="roundRect">
            <a:avLst>
              <a:gd name="adj" fmla="val 10714"/>
            </a:avLst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10565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25880" y="41056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4105656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F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Inferenza CNN su CPU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709160"/>
            <a:ext cx="1088136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0916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9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25880" y="470916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754880" y="4709160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Comunicazione in-memory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312664"/>
            <a:ext cx="10881360" cy="512064"/>
          </a:xfrm>
          <a:prstGeom prst="roundRect">
            <a:avLst>
              <a:gd name="adj" fmla="val 10714"/>
            </a:avLst>
          </a:prstGeom>
          <a:solidFill>
            <a:srgbClr val="E7F0E1"/>
          </a:solidFill>
          <a:ln w="12700">
            <a:solidFill>
              <a:srgbClr val="E3E9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5312664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9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25880" y="53126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Devices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754880" y="5312664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Sensori e attuatori mock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60076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evidenza: il Livello 3 (Edge Computing) — cuore del progetto, dove l'inferenza avviene localmente e non nel cloud.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F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FUNZIONA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Sense → Think → Act → Log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2600" y="2286000"/>
            <a:ext cx="2514600" cy="3337560"/>
          </a:xfrm>
          <a:prstGeom prst="roundRect">
            <a:avLst>
              <a:gd name="adj" fmla="val 4364"/>
            </a:avLst>
          </a:prstGeom>
          <a:solidFill>
            <a:srgbClr val="24512A"/>
          </a:solidFill>
          <a:ln/>
        </p:spPr>
      </p:sp>
      <p:sp>
        <p:nvSpPr>
          <p:cNvPr id="5" name="Shape 3"/>
          <p:cNvSpPr/>
          <p:nvPr/>
        </p:nvSpPr>
        <p:spPr>
          <a:xfrm>
            <a:off x="1574140" y="2651760"/>
            <a:ext cx="731520" cy="7315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6" name="Image 0" descr="/private/tmp/claude-501/-Users-gianmarcovellotti-Desktop-LM-1-anno-IoT-PomodorIA/d58fc5f1-3fb5-4f2f-a56b-ba8bb07e0c51/scratchpad/pptx/icons/camer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1922" y="2739542"/>
            <a:ext cx="555955" cy="5559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9760" y="36118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83768" y="402336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fotocamera virtuale e i sensori ambientali raccolgono un nuovo stato della serra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3197200" y="370332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53232" y="2286000"/>
            <a:ext cx="2514600" cy="3337560"/>
          </a:xfrm>
          <a:prstGeom prst="roundRect">
            <a:avLst>
              <a:gd name="adj" fmla="val 4364"/>
            </a:avLst>
          </a:prstGeom>
          <a:solidFill>
            <a:srgbClr val="24512A"/>
          </a:solidFill>
          <a:ln/>
        </p:spPr>
      </p:sp>
      <p:sp>
        <p:nvSpPr>
          <p:cNvPr id="11" name="Shape 8"/>
          <p:cNvSpPr/>
          <p:nvPr/>
        </p:nvSpPr>
        <p:spPr>
          <a:xfrm>
            <a:off x="4344772" y="2651760"/>
            <a:ext cx="731520" cy="7315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2" name="Image 1" descr="/private/tmp/claude-501/-Users-gianmarcovellotti-Desktop-LM-1-anno-IoT-PomodorIA/d58fc5f1-3fb5-4f2f-a56b-ba8bb07e0c51/scratchpad/pptx/icons/brai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554" y="2739542"/>
            <a:ext cx="555955" cy="55595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90392" y="36118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654400" y="402336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CNN classifica la foglia, l'agente decide combinando diagnosi + ambiente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967832" y="370332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6223864" y="2286000"/>
            <a:ext cx="2514600" cy="3337560"/>
          </a:xfrm>
          <a:prstGeom prst="roundRect">
            <a:avLst>
              <a:gd name="adj" fmla="val 4364"/>
            </a:avLst>
          </a:prstGeom>
          <a:solidFill>
            <a:srgbClr val="24512A"/>
          </a:solidFill>
          <a:ln/>
        </p:spPr>
      </p:sp>
      <p:sp>
        <p:nvSpPr>
          <p:cNvPr id="17" name="Shape 13"/>
          <p:cNvSpPr/>
          <p:nvPr/>
        </p:nvSpPr>
        <p:spPr>
          <a:xfrm>
            <a:off x="7115404" y="2651760"/>
            <a:ext cx="731520" cy="7315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8" name="Image 2" descr="/private/tmp/claude-501/-Users-gianmarcovellotti-Desktop-LM-1-anno-IoT-PomodorIA/d58fc5f1-3fb5-4f2f-a56b-ba8bb07e0c51/scratchpad/pptx/icons/bell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186" y="2739542"/>
            <a:ext cx="555955" cy="55595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61024" y="36118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425032" y="402336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attuatori simulati (irrigazione, ventole, allarme) eseguono la decisione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738464" y="370332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17"/>
          <p:cNvSpPr/>
          <p:nvPr/>
        </p:nvSpPr>
        <p:spPr>
          <a:xfrm>
            <a:off x="8994496" y="2286000"/>
            <a:ext cx="2514600" cy="3337560"/>
          </a:xfrm>
          <a:prstGeom prst="roundRect">
            <a:avLst>
              <a:gd name="adj" fmla="val 4364"/>
            </a:avLst>
          </a:prstGeom>
          <a:solidFill>
            <a:srgbClr val="24512A"/>
          </a:solidFill>
          <a:ln/>
        </p:spPr>
      </p:sp>
      <p:sp>
        <p:nvSpPr>
          <p:cNvPr id="23" name="Shape 18"/>
          <p:cNvSpPr/>
          <p:nvPr/>
        </p:nvSpPr>
        <p:spPr>
          <a:xfrm>
            <a:off x="9886036" y="2651760"/>
            <a:ext cx="731520" cy="7315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4" name="Image 3" descr="/private/tmp/claude-501/-Users-gianmarcovellotti-Desktop-LM-1-anno-IoT-PomodorIA/d58fc5f1-3fb5-4f2f-a56b-ba8bb07e0c51/scratchpad/pptx/icons/layers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3818" y="2739542"/>
            <a:ext cx="555955" cy="55595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131656" y="36118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9195664" y="402336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ciclo viene registrato su CSV e mostrato nella dashboard live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54864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B9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eseguito a intervalli regolari, in loop continuo — proprio come un dispositivo Edge reale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 1-2 — SENSORI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"osserva" la serra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4160520"/>
          </a:xfrm>
          <a:prstGeom prst="roundRect">
            <a:avLst>
              <a:gd name="adj" fmla="val 2637"/>
            </a:avLst>
          </a:prstGeom>
          <a:solidFill>
            <a:srgbClr val="E7F0E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57400"/>
            <a:ext cx="594360" cy="59436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6" name="Image 0" descr="/private/tmp/claude-501/-Users-gianmarcovellotti-Desktop-LM-1-anno-IoT-PomodorIA/d58fc5f1-3fb5-4f2f-a56b-ba8bb07e0c51/scratchpad/pptx/icons/camer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003" y="212872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1031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Fotocamera virtuale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834640"/>
            <a:ext cx="4480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ogni ciclo pesca un'immagine reale dal dataset PlantVillage-Tomato (10 classi, incluso "sana").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solo lo split di test, mai visto in addestramento: la CNN diagnostica come farebbe su una pianta nuova.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essere "forzata" su una classe per simulare demo mirate, es. un focolaio di una malattia.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55080" y="1783080"/>
            <a:ext cx="5257800" cy="4160520"/>
          </a:xfrm>
          <a:prstGeom prst="roundRect">
            <a:avLst>
              <a:gd name="adj" fmla="val 2637"/>
            </a:avLst>
          </a:prstGeom>
          <a:solidFill>
            <a:srgbClr val="E7F0E1"/>
          </a:solidFill>
          <a:ln/>
        </p:spPr>
      </p:sp>
      <p:sp>
        <p:nvSpPr>
          <p:cNvPr id="10" name="Text 7"/>
          <p:cNvSpPr/>
          <p:nvPr/>
        </p:nvSpPr>
        <p:spPr>
          <a:xfrm>
            <a:off x="667512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Sensori ambientali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675120" y="2560320"/>
            <a:ext cx="457200" cy="457200"/>
          </a:xfrm>
          <a:prstGeom prst="ellipse">
            <a:avLst/>
          </a:prstGeom>
          <a:solidFill>
            <a:srgbClr val="6E9B57"/>
          </a:solidFill>
          <a:ln/>
        </p:spPr>
      </p:sp>
      <p:pic>
        <p:nvPicPr>
          <p:cNvPr id="12" name="Image 1" descr="/private/tmp/claude-501/-Users-gianmarcovellotti-Desktop-LM-1-anno-IoT-PomodorIA/d58fc5f1-3fb5-4f2f-a56b-ba8bb07e0c51/scratchpad/pptx/icons/therm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984" y="2615184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55080" y="30358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863840" y="2560320"/>
            <a:ext cx="457200" cy="457200"/>
          </a:xfrm>
          <a:prstGeom prst="ellipse">
            <a:avLst/>
          </a:prstGeom>
          <a:solidFill>
            <a:srgbClr val="6E9B57"/>
          </a:solidFill>
          <a:ln/>
        </p:spPr>
      </p:sp>
      <p:pic>
        <p:nvPicPr>
          <p:cNvPr id="15" name="Image 2" descr="/private/tmp/claude-501/-Users-gianmarcovellotti-Desktop-LM-1-anno-IoT-PomodorIA/d58fc5f1-3fb5-4f2f-a56b-ba8bb07e0c51/scratchpad/pptx/icons/tin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615184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543800" y="30358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Umidità aria &amp; suolo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9052560" y="2560320"/>
            <a:ext cx="457200" cy="457200"/>
          </a:xfrm>
          <a:prstGeom prst="ellipse">
            <a:avLst/>
          </a:prstGeom>
          <a:solidFill>
            <a:srgbClr val="6E9B57"/>
          </a:solidFill>
          <a:ln/>
        </p:spPr>
      </p:sp>
      <p:pic>
        <p:nvPicPr>
          <p:cNvPr id="18" name="Image 3" descr="/private/tmp/claude-501/-Users-gianmarcovellotti-Desktop-LM-1-anno-IoT-PomodorIA/d58fc5f1-3fb5-4f2f-a56b-ba8bb07e0c51/scratchpad/pptx/icons/sun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2615184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732520" y="30358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Luminosità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10241280" y="2560320"/>
            <a:ext cx="457200" cy="457200"/>
          </a:xfrm>
          <a:prstGeom prst="ellipse">
            <a:avLst/>
          </a:prstGeom>
          <a:solidFill>
            <a:srgbClr val="6E9B57"/>
          </a:solidFill>
          <a:ln/>
        </p:spPr>
      </p:sp>
      <p:pic>
        <p:nvPicPr>
          <p:cNvPr id="21" name="Image 4" descr="/private/tmp/claude-501/-Users-gianmarcovellotti-Desktop-LM-1-anno-IoT-PomodorIA/d58fc5f1-3fb5-4f2f-a56b-ba8bb07e0c51/scratchpad/pptx/icons/wind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4" y="2615184"/>
            <a:ext cx="347472" cy="34747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921240" y="30358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Ventilazione</a:t>
            </a:r>
            <a:endParaRPr 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6675120" y="3794760"/>
            <a:ext cx="4617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6903720" y="3950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Fusion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6903720" y="4297680"/>
            <a:ext cx="4160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valori ambientali non sono casuali: sono correlati euristicamente alla patologia rilevata (es. umidità alta ↔ malattie fungine). Immagine + ambiente vengono fusi in un'unica lettura per la decisione.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 3 — EDGE AI LAYER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il motore di inferenza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65376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1051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TomatoCNN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68680" y="2112264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blocchi Conv2D + ReLU + MaxPool, filtri che raddoppiano ad ogni blocco (64→128→256) · 8,76M parametri totali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889504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834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identico al training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3136392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a 64×64 RGB e normalizzazione ImageNet — obbligatorio, altrimenti la rete non funziona in inferenza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91363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8587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modalità intercambiabili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8680" y="41605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full_precision (baseline .pth) oppure optimized, con variante selezionabile: ONNX, pruned+quantizzato o pruned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93776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88289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Vincoli Edge simulati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8680" y="5184648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solo thread CPU, nessuna GPU — ogni predizione misura tempo di inferenza (ms) e RAM utilizzata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03720" y="1691640"/>
            <a:ext cx="4736592" cy="4343400"/>
          </a:xfrm>
          <a:prstGeom prst="roundRect">
            <a:avLst>
              <a:gd name="adj" fmla="val 2526"/>
            </a:avLst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8951976" y="196596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8" name="Image 0" descr="/private/tmp/claude-501/-Users-gianmarcovellotti-Desktop-LM-1-anno-IoT-PomodorIA/d58fc5f1-3fb5-4f2f-a56b-ba8bb07e0c51/scratchpad/pptx/icons/cpu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8786" y="2042770"/>
            <a:ext cx="486461" cy="486461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178040" y="2697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AI Engine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7178040" y="3200400"/>
            <a:ext cx="4187952" cy="402336"/>
          </a:xfrm>
          <a:prstGeom prst="roundRect">
            <a:avLst>
              <a:gd name="adj" fmla="val 50000"/>
            </a:avLst>
          </a:prstGeom>
          <a:solidFill>
            <a:srgbClr val="24512A"/>
          </a:solidFill>
          <a:ln/>
        </p:spPr>
      </p:sp>
      <p:sp>
        <p:nvSpPr>
          <p:cNvPr id="21" name="Text 18"/>
          <p:cNvSpPr/>
          <p:nvPr/>
        </p:nvSpPr>
        <p:spPr>
          <a:xfrm>
            <a:off x="7178040" y="3200400"/>
            <a:ext cx="4187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Immagine 64×64×3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178040" y="3602736"/>
            <a:ext cx="4187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178040" y="3785616"/>
            <a:ext cx="4187952" cy="402336"/>
          </a:xfrm>
          <a:prstGeom prst="roundRect">
            <a:avLst>
              <a:gd name="adj" fmla="val 50000"/>
            </a:avLst>
          </a:prstGeom>
          <a:solidFill>
            <a:srgbClr val="24512A"/>
          </a:solidFill>
          <a:ln/>
        </p:spPr>
      </p:sp>
      <p:sp>
        <p:nvSpPr>
          <p:cNvPr id="24" name="Text 21"/>
          <p:cNvSpPr/>
          <p:nvPr/>
        </p:nvSpPr>
        <p:spPr>
          <a:xfrm>
            <a:off x="7178040" y="3785616"/>
            <a:ext cx="4187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+ ReLU + Pool ×3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178040" y="4187952"/>
            <a:ext cx="4187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78040" y="4370832"/>
            <a:ext cx="4187952" cy="402336"/>
          </a:xfrm>
          <a:prstGeom prst="roundRect">
            <a:avLst>
              <a:gd name="adj" fmla="val 50000"/>
            </a:avLst>
          </a:prstGeom>
          <a:solidFill>
            <a:srgbClr val="24512A"/>
          </a:solidFill>
          <a:ln/>
        </p:spPr>
      </p:sp>
      <p:sp>
        <p:nvSpPr>
          <p:cNvPr id="27" name="Text 24"/>
          <p:cNvSpPr/>
          <p:nvPr/>
        </p:nvSpPr>
        <p:spPr>
          <a:xfrm>
            <a:off x="7178040" y="4370832"/>
            <a:ext cx="4187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 + FC 512 (dropout)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178040" y="4773168"/>
            <a:ext cx="4187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178040" y="4956048"/>
            <a:ext cx="4187952" cy="402336"/>
          </a:xfrm>
          <a:prstGeom prst="roundRect">
            <a:avLst>
              <a:gd name="adj" fmla="val 50000"/>
            </a:avLst>
          </a:prstGeom>
          <a:solidFill>
            <a:srgbClr val="24512A"/>
          </a:solidFill>
          <a:ln/>
        </p:spPr>
      </p:sp>
      <p:sp>
        <p:nvSpPr>
          <p:cNvPr id="30" name="Text 27"/>
          <p:cNvSpPr/>
          <p:nvPr/>
        </p:nvSpPr>
        <p:spPr>
          <a:xfrm>
            <a:off x="7178040" y="4956048"/>
            <a:ext cx="4187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→ 10 classi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178040" y="5358384"/>
            <a:ext cx="4187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178040" y="5541264"/>
            <a:ext cx="4187952" cy="402336"/>
          </a:xfrm>
          <a:prstGeom prst="roundRect">
            <a:avLst>
              <a:gd name="adj" fmla="val 50000"/>
            </a:avLst>
          </a:prstGeom>
          <a:solidFill>
            <a:srgbClr val="24512A"/>
          </a:solidFill>
          <a:ln/>
        </p:spPr>
      </p:sp>
      <p:sp>
        <p:nvSpPr>
          <p:cNvPr id="33" name="Text 30"/>
          <p:cNvSpPr/>
          <p:nvPr/>
        </p:nvSpPr>
        <p:spPr>
          <a:xfrm>
            <a:off x="7178040" y="5541264"/>
            <a:ext cx="4187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+ confidenza + latenza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 5-6 — INTELLIGENZA APPLICATIVA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agente razionale, reattivo e basato su obiettivi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2606040" cy="566928"/>
          </a:xfrm>
          <a:prstGeom prst="roundRect">
            <a:avLst>
              <a:gd name="adj" fmla="val 14516"/>
            </a:avLst>
          </a:prstGeom>
          <a:solidFill>
            <a:srgbClr val="E7F0E1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728216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6276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55848" y="1627632"/>
            <a:ext cx="2606040" cy="566928"/>
          </a:xfrm>
          <a:prstGeom prst="roundRect">
            <a:avLst>
              <a:gd name="adj" fmla="val 14516"/>
            </a:avLst>
          </a:prstGeom>
          <a:solidFill>
            <a:srgbClr val="E7F0E1"/>
          </a:solidFill>
          <a:ln/>
        </p:spPr>
      </p:sp>
      <p:sp>
        <p:nvSpPr>
          <p:cNvPr id="9" name="Shape 7"/>
          <p:cNvSpPr/>
          <p:nvPr/>
        </p:nvSpPr>
        <p:spPr>
          <a:xfrm>
            <a:off x="3474720" y="1728216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22776" y="16276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63056" y="1627632"/>
            <a:ext cx="2606040" cy="566928"/>
          </a:xfrm>
          <a:prstGeom prst="roundRect">
            <a:avLst>
              <a:gd name="adj" fmla="val 14516"/>
            </a:avLst>
          </a:prstGeom>
          <a:solidFill>
            <a:srgbClr val="E7F0E1"/>
          </a:solidFill>
          <a:ln/>
        </p:spPr>
      </p:sp>
      <p:sp>
        <p:nvSpPr>
          <p:cNvPr id="13" name="Shape 11"/>
          <p:cNvSpPr/>
          <p:nvPr/>
        </p:nvSpPr>
        <p:spPr>
          <a:xfrm>
            <a:off x="6281928" y="1728216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29984" y="16276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70264" y="1627632"/>
            <a:ext cx="2606040" cy="566928"/>
          </a:xfrm>
          <a:prstGeom prst="roundRect">
            <a:avLst>
              <a:gd name="adj" fmla="val 14516"/>
            </a:avLst>
          </a:prstGeom>
          <a:solidFill>
            <a:srgbClr val="E7F0E1"/>
          </a:solidFill>
          <a:ln/>
        </p:spPr>
      </p:sp>
      <p:sp>
        <p:nvSpPr>
          <p:cNvPr id="17" name="Shape 15"/>
          <p:cNvSpPr/>
          <p:nvPr/>
        </p:nvSpPr>
        <p:spPr>
          <a:xfrm>
            <a:off x="9089136" y="1728216"/>
            <a:ext cx="365760" cy="365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9089136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537192" y="16276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2395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Regole condizione → azione, a priorità decrescente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2807208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807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32688" y="2761488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Confidenza bassa → ispezione umana (human-in-the-loop)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080760" y="2807208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6080760" y="2807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64808" y="2761488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Malattia virale → allarme critico (possibile vettore insetto)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3282696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32688" y="3236976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Malattia fungina + umidità alta → ventilazione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80760" y="3282696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608076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64808" y="3236976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Malattia batterica/parassita → notifica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3758184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758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32688" y="371246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 bassa → irrigazione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080760" y="3758184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7" name="Text 35"/>
          <p:cNvSpPr/>
          <p:nvPr/>
        </p:nvSpPr>
        <p:spPr>
          <a:xfrm>
            <a:off x="6080760" y="3758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464808" y="371246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fuori soglia → ventilazione o alert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4233672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4233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932688" y="4187952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di malattia ricorrente → allarme epidemia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080760" y="4233672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3" name="Text 41"/>
          <p:cNvSpPr/>
          <p:nvPr/>
        </p:nvSpPr>
        <p:spPr>
          <a:xfrm>
            <a:off x="6080760" y="4233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464808" y="4187952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Pianta sana → reset di tutti gli attuatori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4956048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2C5F2D"/>
          </a:solidFill>
          <a:ln/>
        </p:spPr>
      </p:sp>
      <p:sp>
        <p:nvSpPr>
          <p:cNvPr id="46" name="Text 44"/>
          <p:cNvSpPr/>
          <p:nvPr/>
        </p:nvSpPr>
        <p:spPr>
          <a:xfrm>
            <a:off x="822960" y="5102352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F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Rilevamento epidemie:  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finestra scorrevole delle ultime 10 scansioni — allarme se una stessa categoria di malattia compare almeno 3 volte. Robusto a errori isolati del modello e al campionamento casuale delle piante ad ogni ciclo.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 1 &amp; 7 — ATTUATORI E COLLABORATION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Dalla decisione all'azione sul campo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E7F0E1"/>
          </a:solidFill>
          <a:ln/>
        </p:spPr>
      </p:sp>
      <p:sp>
        <p:nvSpPr>
          <p:cNvPr id="5" name="Shape 3"/>
          <p:cNvSpPr/>
          <p:nvPr/>
        </p:nvSpPr>
        <p:spPr>
          <a:xfrm>
            <a:off x="1531620" y="2167128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6" name="Image 0" descr="/private/tmp/claude-501/-Users-gianmarcovellotti-Desktop-LM-1-anno-IoT-PomodorIA/d58fc5f1-3fb5-4f2f-a56b-ba8bb07e0c51/scratchpad/pptx/icons/tin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8430" y="2243938"/>
            <a:ext cx="486461" cy="48646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971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Irrigazione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3319272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attiva quando l'umidità del suolo scende sotto soglia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55848" y="187452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E7F0E1"/>
          </a:solidFill>
          <a:ln/>
        </p:spPr>
      </p:sp>
      <p:sp>
        <p:nvSpPr>
          <p:cNvPr id="10" name="Shape 7"/>
          <p:cNvSpPr/>
          <p:nvPr/>
        </p:nvSpPr>
        <p:spPr>
          <a:xfrm>
            <a:off x="4338828" y="2167128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1" name="Image 1" descr="/private/tmp/claude-501/-Users-gianmarcovellotti-Desktop-LM-1-anno-IoT-PomodorIA/d58fc5f1-3fb5-4f2f-a56b-ba8bb07e0c51/scratchpad/pptx/icons/win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638" y="2243938"/>
            <a:ext cx="486461" cy="48646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93008" y="2971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Ventilazione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38728" y="3319272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riduce l'umidità in presenza di malattie fungine o temperature alte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63056" y="187452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E7F0E1"/>
          </a:solidFill>
          <a:ln/>
        </p:spPr>
      </p:sp>
      <p:sp>
        <p:nvSpPr>
          <p:cNvPr id="15" name="Shape 11"/>
          <p:cNvSpPr/>
          <p:nvPr/>
        </p:nvSpPr>
        <p:spPr>
          <a:xfrm>
            <a:off x="7146036" y="2167128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6" name="Image 2" descr="/private/tmp/claude-501/-Users-gianmarcovellotti-Desktop-LM-1-anno-IoT-PomodorIA/d58fc5f1-3fb5-4f2f-a56b-ba8bb07e0c51/scratchpad/pptx/icons/bell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2846" y="2243938"/>
            <a:ext cx="486461" cy="48646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0216" y="2971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Allarme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345936" y="3319272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segnala epidemie, malattie virali o bassa confidenza del modello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970264" y="187452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E7F0E1"/>
          </a:solidFill>
          <a:ln/>
        </p:spPr>
      </p:sp>
      <p:sp>
        <p:nvSpPr>
          <p:cNvPr id="20" name="Shape 15"/>
          <p:cNvSpPr/>
          <p:nvPr/>
        </p:nvSpPr>
        <p:spPr>
          <a:xfrm>
            <a:off x="9953244" y="2167128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1" name="Image 3" descr="/private/tmp/claude-501/-Users-gianmarcovellotti-Desktop-LM-1-anno-IoT-PomodorIA/d58fc5f1-3fb5-4f2f-a56b-ba8bb07e0c51/scratchpad/pptx/icons/wifi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054" y="2243938"/>
            <a:ext cx="486461" cy="48646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07424" y="2971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9153144" y="3319272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avvisa l'agricoltore — livello "Collaboration" dello stack IoT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54864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attuatore ha un'interfaccia identica a quella dei pin GPIO reali: il codice è già pronto per essere spostato su un Raspberry Pi vero, senza riscritture.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OTTIMIZZAZIONE EDGE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Pruning e quantizzazione: il trade-off dimensione/accuratezza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E7F0E1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83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Pruning (L1, 30%)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9808" y="20574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3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ln_structured rimuove interi filtri Conv2D meno rilevanti (norma L1) — riduce davvero i calcoli, non solo azzera pesi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6199632" y="1691640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E7F0E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783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Quantization (INT8)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0" y="20574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3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pesi vengono convertiti a 8 bit a compile-time; le attivazioni sono quantizzate a runtime, senza calibrazione</a:t>
            </a:r>
            <a:endParaRPr lang="en-US" sz="103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2788920"/>
          <a:ext cx="553212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2788920"/>
          <a:ext cx="5468112" cy="1874520"/>
        </p:xfrm>
        <a:graphic>
          <a:graphicData uri="http://schemas.openxmlformats.org/drawingml/2006/table">
            <a:tbl>
              <a:tblPr/>
              <a:tblGrid>
                <a:gridCol w="2286000"/>
                <a:gridCol w="1060704"/>
                <a:gridCol w="1060704"/>
                <a:gridCol w="1060704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Variante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Acc.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Size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Lat.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1F"/>
                          </a:solidFill>
                        </a:rPr>
                        <a:t>Baseline (float32)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1F"/>
                          </a:solidFill>
                        </a:rPr>
                        <a:t>95.0%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1F"/>
                          </a:solidFill>
                        </a:rPr>
                        <a:t>33.44 MB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1F"/>
                          </a:solidFill>
                        </a:rPr>
                        <a:t>3.33 ms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1F"/>
                          </a:solidFill>
                        </a:rPr>
                        <a:t>Pruned (30%)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1F"/>
                          </a:solidFill>
                        </a:rPr>
                        <a:t>82.2%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1F"/>
                          </a:solidFill>
                        </a:rPr>
                        <a:t>33.44 MB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1F"/>
                          </a:solidFill>
                        </a:rPr>
                        <a:t>3.28 ms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1F"/>
                          </a:solidFill>
                        </a:rPr>
                        <a:t>Pruned + Quant INT8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1F"/>
                          </a:solidFill>
                        </a:rPr>
                        <a:t>82.2%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1F"/>
                          </a:solidFill>
                        </a:rPr>
                        <a:t>9.43 MB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1F"/>
                          </a:solidFill>
                        </a:rPr>
                        <a:t>4.32 ms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5F2D"/>
                          </a:solidFill>
                        </a:rPr>
                        <a:t>ONNX Quant INT8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C5F2D"/>
                          </a:solidFill>
                        </a:rPr>
                        <a:t>95.0%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C5F2D"/>
                          </a:solidFill>
                        </a:rPr>
                        <a:t>8.37 MB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C5F2D"/>
                          </a:solidFill>
                        </a:rPr>
                        <a:t>6.10 ms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1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989320" y="4828032"/>
            <a:ext cx="5468112" cy="1024128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</p:sp>
      <p:sp>
        <p:nvSpPr>
          <p:cNvPr id="13" name="Text 9"/>
          <p:cNvSpPr/>
          <p:nvPr/>
        </p:nvSpPr>
        <p:spPr>
          <a:xfrm>
            <a:off x="6172200" y="49377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E7F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quantizzazione ONNX resta la scelta più equilibrata: ~4x più leggera (33.4 → 8.4 MB) senza perdere accuratezza. Il pruning aggressivo, senza fine-tuning di recupero, penalizza sensibilmente il modello.</a:t>
            </a:r>
            <a:endParaRPr lang="en-US" sz="1030" dirty="0"/>
          </a:p>
        </p:txBody>
      </p:sp>
      <p:sp>
        <p:nvSpPr>
          <p:cNvPr id="14" name="Text 10"/>
          <p:cNvSpPr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6E9B57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8580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4" name="Image 0" descr="/private/tmp/claude-501/-Users-gianmarcovellotti-Desktop-LM-1-anno-IoT-PomodorIA/d58fc5f1-3fb5-4f2f-a56b-ba8bb07e0c51/scratchpad/pptx/icons/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450" y="762610"/>
            <a:ext cx="486461" cy="48646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417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48640" y="21945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PomodorIA dimostra, in un ambiente interamente software, l'intero ciclo di vita di un sistema IoT/Edge AI applicato all'agricoltura di precisione.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3300984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317296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mappata fedelmente sui 7 livelli IoT World Forum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803904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7"/>
          <p:cNvSpPr/>
          <p:nvPr/>
        </p:nvSpPr>
        <p:spPr>
          <a:xfrm>
            <a:off x="841248" y="367588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razionale PEAS che fonde diagnosi CNN e contesto ambientale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306824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417880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 compresso per esecuzione realistica su hardware Edge limitato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48640" y="4809744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1"/>
          <p:cNvSpPr/>
          <p:nvPr/>
        </p:nvSpPr>
        <p:spPr>
          <a:xfrm>
            <a:off x="841248" y="46817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"drop-in replaceable": pronto per un deployment su Raspberry Pi reale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595360" y="2194560"/>
            <a:ext cx="3017520" cy="3931920"/>
          </a:xfrm>
          <a:prstGeom prst="roundRect">
            <a:avLst>
              <a:gd name="adj" fmla="val 3636"/>
            </a:avLst>
          </a:prstGeom>
          <a:solidFill>
            <a:srgbClr val="24512A"/>
          </a:solidFill>
          <a:ln/>
        </p:spPr>
      </p:sp>
      <p:sp>
        <p:nvSpPr>
          <p:cNvPr id="16" name="Text 13"/>
          <p:cNvSpPr/>
          <p:nvPr/>
        </p:nvSpPr>
        <p:spPr>
          <a:xfrm>
            <a:off x="8595360" y="2606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9FC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4600" dirty="0"/>
          </a:p>
        </p:txBody>
      </p:sp>
      <p:sp>
        <p:nvSpPr>
          <p:cNvPr id="17" name="Text 14"/>
          <p:cNvSpPr/>
          <p:nvPr/>
        </p:nvSpPr>
        <p:spPr>
          <a:xfrm>
            <a:off x="8732520" y="35204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accuratezza mantenuta</a:t>
            </a:r>
            <a:endParaRPr lang="en-US" sz="1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modello compresso per l'Edge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15400" y="4526280"/>
            <a:ext cx="2286000" cy="0"/>
          </a:xfrm>
          <a:prstGeom prst="line">
            <a:avLst/>
          </a:prstGeom>
          <a:noFill/>
          <a:ln w="12700">
            <a:solidFill>
              <a:srgbClr val="3E6B3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595360" y="47091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FC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4x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8732520" y="53492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leggero da 33 MB a 8 MB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Grazie per l'attenzione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PomodorIA — Serra Domotica con Edge AI</dc:title>
  <dc:subject>PptxGenJS Presentation</dc:subject>
  <dc:creator>Vellotti Gianmarco, Terrecuso Francesco</dc:creator>
  <cp:lastModifiedBy>Vellotti Gianmarco, Terrecuso Francesco</cp:lastModifiedBy>
  <cp:revision>1</cp:revision>
  <dcterms:created xsi:type="dcterms:W3CDTF">2026-07-13T20:51:57Z</dcterms:created>
  <dcterms:modified xsi:type="dcterms:W3CDTF">2026-07-13T20:51:57Z</dcterms:modified>
</cp:coreProperties>
</file>